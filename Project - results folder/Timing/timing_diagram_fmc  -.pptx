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45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Curved Connector 146">
            <a:extLst>
              <a:ext uri="{FF2B5EF4-FFF2-40B4-BE49-F238E27FC236}">
                <a16:creationId xmlns:a16="http://schemas.microsoft.com/office/drawing/2014/main" id="{5424C175-D683-880C-B815-F5C35A9B93EA}"/>
              </a:ext>
            </a:extLst>
          </p:cNvPr>
          <p:cNvCxnSpPr>
            <a:cxnSpLocks/>
            <a:stCxn id="30" idx="0"/>
            <a:endCxn id="31" idx="0"/>
          </p:cNvCxnSpPr>
          <p:nvPr/>
        </p:nvCxnSpPr>
        <p:spPr>
          <a:xfrm rot="5400000" flipH="1" flipV="1">
            <a:off x="4846320" y="-128016"/>
            <a:ext cx="12700" cy="4572000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Curved Connector 143">
            <a:extLst>
              <a:ext uri="{FF2B5EF4-FFF2-40B4-BE49-F238E27FC236}">
                <a16:creationId xmlns:a16="http://schemas.microsoft.com/office/drawing/2014/main" id="{DD89445F-BED3-6462-34C5-11E4FA99EB74}"/>
              </a:ext>
            </a:extLst>
          </p:cNvPr>
          <p:cNvCxnSpPr>
            <a:cxnSpLocks/>
            <a:stCxn id="25" idx="0"/>
            <a:endCxn id="26" idx="0"/>
          </p:cNvCxnSpPr>
          <p:nvPr/>
        </p:nvCxnSpPr>
        <p:spPr>
          <a:xfrm rot="5400000" flipH="1" flipV="1">
            <a:off x="4846320" y="-539496"/>
            <a:ext cx="12700" cy="4572000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Shape 51"/>
          <p:cNvSpPr/>
          <p:nvPr/>
        </p:nvSpPr>
        <p:spPr>
          <a:xfrm flipH="1">
            <a:off x="2562099" y="1892797"/>
            <a:ext cx="7865" cy="676666"/>
          </a:xfrm>
          <a:prstGeom prst="line">
            <a:avLst/>
          </a:prstGeom>
          <a:noFill/>
          <a:ln w="22860">
            <a:solidFill>
              <a:srgbClr val="1B6B20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1" name="Shape 49"/>
          <p:cNvSpPr/>
          <p:nvPr/>
        </p:nvSpPr>
        <p:spPr>
          <a:xfrm flipH="1">
            <a:off x="2567544" y="1490472"/>
            <a:ext cx="3932" cy="287667"/>
          </a:xfrm>
          <a:prstGeom prst="line">
            <a:avLst/>
          </a:prstGeom>
          <a:noFill/>
          <a:ln w="22860">
            <a:solidFill>
              <a:srgbClr val="1B6B20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cxnSp>
        <p:nvCxnSpPr>
          <p:cNvPr id="90" name="Curved Connector 89">
            <a:extLst>
              <a:ext uri="{FF2B5EF4-FFF2-40B4-BE49-F238E27FC236}">
                <a16:creationId xmlns:a16="http://schemas.microsoft.com/office/drawing/2014/main" id="{3F211AFD-02F5-ECD0-C115-0DD0DB4D4B78}"/>
              </a:ext>
            </a:extLst>
          </p:cNvPr>
          <p:cNvCxnSpPr>
            <a:cxnSpLocks/>
            <a:stCxn id="10" idx="2"/>
            <a:endCxn id="30" idx="2"/>
          </p:cNvCxnSpPr>
          <p:nvPr/>
        </p:nvCxnSpPr>
        <p:spPr>
          <a:xfrm rot="10800000" flipV="1">
            <a:off x="2478024" y="595080"/>
            <a:ext cx="12700" cy="1645200"/>
          </a:xfrm>
          <a:prstGeom prst="curvedConnector3">
            <a:avLst>
              <a:gd name="adj1" fmla="val 4980000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hape 59">
            <a:extLst>
              <a:ext uri="{FF2B5EF4-FFF2-40B4-BE49-F238E27FC236}">
                <a16:creationId xmlns:a16="http://schemas.microsoft.com/office/drawing/2014/main" id="{A94BC9C5-340F-80F1-F1E6-48813713E7AB}"/>
              </a:ext>
            </a:extLst>
          </p:cNvPr>
          <p:cNvSpPr/>
          <p:nvPr/>
        </p:nvSpPr>
        <p:spPr>
          <a:xfrm flipV="1">
            <a:off x="2624324" y="2236198"/>
            <a:ext cx="4444486" cy="822104"/>
          </a:xfrm>
          <a:prstGeom prst="line">
            <a:avLst/>
          </a:prstGeom>
          <a:noFill/>
          <a:ln w="25400">
            <a:solidFill>
              <a:srgbClr val="0D47A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1" name="Shape 59"/>
          <p:cNvSpPr/>
          <p:nvPr/>
        </p:nvSpPr>
        <p:spPr>
          <a:xfrm flipV="1">
            <a:off x="2624325" y="1014982"/>
            <a:ext cx="4425694" cy="2002530"/>
          </a:xfrm>
          <a:prstGeom prst="line">
            <a:avLst/>
          </a:prstGeom>
          <a:noFill/>
          <a:ln w="25400">
            <a:solidFill>
              <a:srgbClr val="0D47A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9" name="Shape 57"/>
          <p:cNvSpPr/>
          <p:nvPr/>
        </p:nvSpPr>
        <p:spPr>
          <a:xfrm flipV="1">
            <a:off x="2638045" y="1435609"/>
            <a:ext cx="4407409" cy="1197825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7" name="Shape 55"/>
          <p:cNvSpPr/>
          <p:nvPr/>
        </p:nvSpPr>
        <p:spPr>
          <a:xfrm flipV="1">
            <a:off x="2650476" y="1014982"/>
            <a:ext cx="4399547" cy="1636758"/>
          </a:xfrm>
          <a:prstGeom prst="line">
            <a:avLst/>
          </a:prstGeom>
          <a:noFill/>
          <a:ln w="25400">
            <a:solidFill>
              <a:srgbClr val="0D47A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" name="Text 0"/>
          <p:cNvSpPr/>
          <p:nvPr/>
        </p:nvSpPr>
        <p:spPr>
          <a:xfrm>
            <a:off x="54864" y="48117"/>
            <a:ext cx="9034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Co-simulation Timing Diagram —  (Serial / Gauss-Seidel,  Δt = 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22576" y="3108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tₖ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0" y="310896"/>
            <a:ext cx="0" cy="3264408"/>
          </a:xfrm>
          <a:prstGeom prst="line">
            <a:avLst/>
          </a:prstGeom>
          <a:noFill/>
          <a:ln w="1016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NL" dirty="0"/>
          </a:p>
        </p:txBody>
      </p:sp>
      <p:sp>
        <p:nvSpPr>
          <p:cNvPr id="5" name="Text 3"/>
          <p:cNvSpPr/>
          <p:nvPr/>
        </p:nvSpPr>
        <p:spPr>
          <a:xfrm>
            <a:off x="6894576" y="3108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tₖ₊₁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310896"/>
            <a:ext cx="0" cy="3264408"/>
          </a:xfrm>
          <a:prstGeom prst="line">
            <a:avLst/>
          </a:prstGeom>
          <a:noFill/>
          <a:ln w="1016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45720" y="457200"/>
            <a:ext cx="1371600" cy="274320"/>
          </a:xfrm>
          <a:prstGeom prst="rect">
            <a:avLst/>
          </a:prstGeom>
          <a:solidFill>
            <a:srgbClr val="FDECEA"/>
          </a:solidFill>
          <a:ln w="1778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572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Model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81328" y="59436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2478024" y="5120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7050024" y="5120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45720" y="868680"/>
            <a:ext cx="1371600" cy="274320"/>
          </a:xfrm>
          <a:prstGeom prst="rect">
            <a:avLst/>
          </a:prstGeom>
          <a:solidFill>
            <a:srgbClr val="FFF0E0"/>
          </a:solidFill>
          <a:ln w="17780">
            <a:solidFill>
              <a:srgbClr val="B045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572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81328" y="100584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2478024" y="92354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7050024" y="92354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45720" y="1280160"/>
            <a:ext cx="1371600" cy="274320"/>
          </a:xfrm>
          <a:prstGeom prst="rect">
            <a:avLst/>
          </a:prstGeom>
          <a:solidFill>
            <a:srgbClr val="EAF4EA"/>
          </a:solidFill>
          <a:ln w="17780">
            <a:solidFill>
              <a:srgbClr val="1B6B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4572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81328" y="141732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2478024" y="13350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7050024" y="133502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45720" y="1691640"/>
            <a:ext cx="1371600" cy="274320"/>
          </a:xfrm>
          <a:prstGeom prst="rect">
            <a:avLst/>
          </a:prstGeom>
          <a:solidFill>
            <a:srgbClr val="EAF4EA"/>
          </a:solidFill>
          <a:ln w="17780">
            <a:solidFill>
              <a:srgbClr val="1B6B2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457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 (ODE)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81328" y="182880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2478024" y="174650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7050024" y="174650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45720" y="2103120"/>
            <a:ext cx="1371600" cy="274320"/>
          </a:xfrm>
          <a:prstGeom prst="rect">
            <a:avLst/>
          </a:prstGeom>
          <a:solidFill>
            <a:srgbClr val="FDECEA"/>
          </a:solidFill>
          <a:ln w="1778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57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Battery  (ODE)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481328" y="224028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2478024" y="215798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7050024" y="215798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45720" y="2514600"/>
            <a:ext cx="1371600" cy="274320"/>
          </a:xfrm>
          <a:prstGeom prst="rect">
            <a:avLst/>
          </a:prstGeom>
          <a:solidFill>
            <a:srgbClr val="FFF0E0"/>
          </a:solidFill>
          <a:ln w="17780">
            <a:solidFill>
              <a:srgbClr val="B045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457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 Ctrl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81328" y="265176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2478024" y="25694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7050024" y="256946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45720" y="2926080"/>
            <a:ext cx="1371600" cy="274320"/>
          </a:xfrm>
          <a:prstGeom prst="rect">
            <a:avLst/>
          </a:prstGeom>
          <a:solidFill>
            <a:srgbClr val="FDECEA"/>
          </a:solidFill>
          <a:ln w="1778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457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Ctrl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481328" y="3063240"/>
            <a:ext cx="7552944" cy="0"/>
          </a:xfrm>
          <a:prstGeom prst="line">
            <a:avLst/>
          </a:prstGeom>
          <a:noFill/>
          <a:ln w="3302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2478024" y="298094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Shape 39"/>
          <p:cNvSpPr/>
          <p:nvPr/>
        </p:nvSpPr>
        <p:spPr>
          <a:xfrm>
            <a:off x="7050024" y="2980944"/>
            <a:ext cx="164592" cy="16459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4389120" y="1444752"/>
            <a:ext cx="91440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B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x(tₖ) → x(tₖ₊₁)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615704" y="640055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750" dirty="0" err="1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386582" y="1142999"/>
            <a:ext cx="1417320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V_grid[k]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588749" y="1892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B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T_room[k]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605534" y="2354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SOC[k]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893382" y="2159333"/>
            <a:ext cx="841623" cy="14187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r>
              <a:rPr lang="en-US" sz="75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P_hp</a:t>
            </a:r>
            <a:r>
              <a:rPr lang="en-US" sz="7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[k]/</a:t>
            </a:r>
            <a:r>
              <a:rPr lang="en-US" sz="75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P_set</a:t>
            </a:r>
            <a:r>
              <a:rPr lang="en-US" sz="7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21958" y="2432292"/>
            <a:ext cx="565162" cy="12802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</a:t>
            </a:r>
            <a:r>
              <a:rPr lang="en-US" sz="75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P_ch</a:t>
            </a:r>
            <a:r>
              <a:rPr lang="en-US" sz="7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651760" y="3291840"/>
            <a:ext cx="4389120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5" name="Text 63"/>
          <p:cNvSpPr/>
          <p:nvPr/>
        </p:nvSpPr>
        <p:spPr>
          <a:xfrm>
            <a:off x="4517136" y="3099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15 min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" y="3429000"/>
            <a:ext cx="4206240" cy="9601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7" name="Text 65"/>
          <p:cNvSpPr/>
          <p:nvPr/>
        </p:nvSpPr>
        <p:spPr>
          <a:xfrm>
            <a:off x="137160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7160" y="3767328"/>
            <a:ext cx="256032" cy="0"/>
          </a:xfrm>
          <a:prstGeom prst="line">
            <a:avLst/>
          </a:prstGeom>
          <a:noFill/>
          <a:ln w="31750">
            <a:solidFill>
              <a:srgbClr val="1B6B20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67"/>
          <p:cNvSpPr/>
          <p:nvPr/>
        </p:nvSpPr>
        <p:spPr>
          <a:xfrm>
            <a:off x="457200" y="3685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(unchanged)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03704" y="3767328"/>
            <a:ext cx="256032" cy="0"/>
          </a:xfrm>
          <a:prstGeom prst="line">
            <a:avLst/>
          </a:prstGeom>
          <a:noFill/>
          <a:ln w="31750">
            <a:solidFill>
              <a:srgbClr val="B04500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1" name="Text 69"/>
          <p:cNvSpPr/>
          <p:nvPr/>
        </p:nvSpPr>
        <p:spPr>
          <a:xfrm>
            <a:off x="2523744" y="3685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for FM-c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37160" y="4041648"/>
            <a:ext cx="256032" cy="0"/>
          </a:xfrm>
          <a:prstGeom prst="line">
            <a:avLst/>
          </a:prstGeom>
          <a:noFill/>
          <a:ln w="31750">
            <a:solidFill>
              <a:srgbClr val="990000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3" name="Text 71"/>
          <p:cNvSpPr/>
          <p:nvPr/>
        </p:nvSpPr>
        <p:spPr>
          <a:xfrm>
            <a:off x="457200" y="3959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FM-c submodel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203704" y="4041648"/>
            <a:ext cx="256032" cy="0"/>
          </a:xfrm>
          <a:prstGeom prst="line">
            <a:avLst/>
          </a:prstGeom>
          <a:noFill/>
          <a:ln w="31750">
            <a:solidFill>
              <a:srgbClr val="0D47A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5" name="Text 73"/>
          <p:cNvSpPr/>
          <p:nvPr/>
        </p:nvSpPr>
        <p:spPr>
          <a:xfrm>
            <a:off x="2523744" y="3959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k→k+1 feedback (diagonal)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37160" y="4187952"/>
            <a:ext cx="256032" cy="0"/>
          </a:xfrm>
          <a:prstGeom prst="line">
            <a:avLst/>
          </a:prstGeom>
          <a:noFill/>
          <a:ln w="22860">
            <a:solidFill>
              <a:srgbClr val="1B6B20"/>
            </a:solidFill>
            <a:prstDash val="dash"/>
            <a:tailEnd type="none"/>
          </a:ln>
        </p:spPr>
        <p:txBody>
          <a:bodyPr/>
          <a:lstStyle/>
          <a:p>
            <a:endParaRPr lang="en-NL"/>
          </a:p>
        </p:txBody>
      </p:sp>
      <p:sp>
        <p:nvSpPr>
          <p:cNvPr id="77" name="Text 75"/>
          <p:cNvSpPr/>
          <p:nvPr/>
        </p:nvSpPr>
        <p:spPr>
          <a:xfrm>
            <a:off x="457200" y="41056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state carry-forward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43400" y="3429000"/>
            <a:ext cx="4700016" cy="960120"/>
          </a:xfrm>
          <a:prstGeom prst="rect">
            <a:avLst/>
          </a:prstGeom>
          <a:solidFill>
            <a:srgbClr val="EBF2FB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9" name="Text 77"/>
          <p:cNvSpPr/>
          <p:nvPr/>
        </p:nvSpPr>
        <p:spPr>
          <a:xfrm>
            <a:off x="4462272" y="3483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3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FM-e (Forecast module)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462272" y="3685032"/>
            <a:ext cx="4498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a separate daily macro-step (Δt = 1440 min). Triggered once per day at 00:00; outputs P̂_load and P̂_PV for the next 96 steps (24 h ahead). Parallel observer — no physics feedback within the 15-min co-simulation loop.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87051" y="1463041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B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Q_hp[k]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89120" y="1856232"/>
            <a:ext cx="91440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SOC(tₖ) → SOC(tₖ₊₁)</a:t>
            </a:r>
            <a:endParaRPr lang="en-US" sz="700" dirty="0"/>
          </a:p>
        </p:txBody>
      </p:sp>
      <p:cxnSp>
        <p:nvCxnSpPr>
          <p:cNvPr id="96" name="Curved Connector 95">
            <a:extLst>
              <a:ext uri="{FF2B5EF4-FFF2-40B4-BE49-F238E27FC236}">
                <a16:creationId xmlns:a16="http://schemas.microsoft.com/office/drawing/2014/main" id="{5D789CFD-D25F-B8CE-800D-915BF4934AE5}"/>
              </a:ext>
            </a:extLst>
          </p:cNvPr>
          <p:cNvCxnSpPr>
            <a:cxnSpLocks/>
            <a:stCxn id="10" idx="2"/>
            <a:endCxn id="40" idx="2"/>
          </p:cNvCxnSpPr>
          <p:nvPr/>
        </p:nvCxnSpPr>
        <p:spPr>
          <a:xfrm rot="10800000" flipV="1">
            <a:off x="2478024" y="594360"/>
            <a:ext cx="12700" cy="2468880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 45">
            <a:extLst>
              <a:ext uri="{FF2B5EF4-FFF2-40B4-BE49-F238E27FC236}">
                <a16:creationId xmlns:a16="http://schemas.microsoft.com/office/drawing/2014/main" id="{62FEEF7C-5A3A-93D5-6D7F-3B1CBA1FABB4}"/>
              </a:ext>
            </a:extLst>
          </p:cNvPr>
          <p:cNvSpPr/>
          <p:nvPr/>
        </p:nvSpPr>
        <p:spPr>
          <a:xfrm>
            <a:off x="2322576" y="713231"/>
            <a:ext cx="1417320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750" dirty="0" err="1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is_home</a:t>
            </a:r>
            <a:endParaRPr lang="en-US" sz="750" dirty="0"/>
          </a:p>
        </p:txBody>
      </p:sp>
      <p:sp>
        <p:nvSpPr>
          <p:cNvPr id="100" name="Text 45">
            <a:extLst>
              <a:ext uri="{FF2B5EF4-FFF2-40B4-BE49-F238E27FC236}">
                <a16:creationId xmlns:a16="http://schemas.microsoft.com/office/drawing/2014/main" id="{9782CAD6-6537-3A6C-CB44-A5969FC0D578}"/>
              </a:ext>
            </a:extLst>
          </p:cNvPr>
          <p:cNvSpPr/>
          <p:nvPr/>
        </p:nvSpPr>
        <p:spPr>
          <a:xfrm>
            <a:off x="1858884" y="1143000"/>
            <a:ext cx="381395" cy="1463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ΔSOC</a:t>
            </a:r>
            <a:endParaRPr lang="en-US" sz="750" dirty="0"/>
          </a:p>
        </p:txBody>
      </p: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9417106C-81D0-D87F-FDFC-93047626F828}"/>
              </a:ext>
            </a:extLst>
          </p:cNvPr>
          <p:cNvCxnSpPr>
            <a:cxnSpLocks/>
            <a:stCxn id="10" idx="2"/>
            <a:endCxn id="35" idx="2"/>
          </p:cNvCxnSpPr>
          <p:nvPr/>
        </p:nvCxnSpPr>
        <p:spPr>
          <a:xfrm rot="10800000" flipV="1">
            <a:off x="2478024" y="594360"/>
            <a:ext cx="12700" cy="2057400"/>
          </a:xfrm>
          <a:prstGeom prst="curvedConnector3">
            <a:avLst>
              <a:gd name="adj1" fmla="val 7537504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E8C16DC8-57D7-E557-57FB-5C46D66BDCBF}"/>
              </a:ext>
            </a:extLst>
          </p:cNvPr>
          <p:cNvCxnSpPr>
            <a:cxnSpLocks/>
            <a:stCxn id="15" idx="2"/>
            <a:endCxn id="40" idx="3"/>
          </p:cNvCxnSpPr>
          <p:nvPr/>
        </p:nvCxnSpPr>
        <p:spPr>
          <a:xfrm rot="10800000" flipH="1" flipV="1">
            <a:off x="2478024" y="1005840"/>
            <a:ext cx="24104" cy="2115592"/>
          </a:xfrm>
          <a:prstGeom prst="curvedConnector4">
            <a:avLst>
              <a:gd name="adj1" fmla="val -948390"/>
              <a:gd name="adj2" fmla="val 100464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151">
            <a:extLst>
              <a:ext uri="{FF2B5EF4-FFF2-40B4-BE49-F238E27FC236}">
                <a16:creationId xmlns:a16="http://schemas.microsoft.com/office/drawing/2014/main" id="{FAB91767-2D70-400C-D930-30BD2EDF2FD3}"/>
              </a:ext>
            </a:extLst>
          </p:cNvPr>
          <p:cNvCxnSpPr>
            <a:cxnSpLocks/>
            <a:endCxn id="40" idx="0"/>
          </p:cNvCxnSpPr>
          <p:nvPr/>
        </p:nvCxnSpPr>
        <p:spPr>
          <a:xfrm rot="5400000">
            <a:off x="2235199" y="2654049"/>
            <a:ext cx="652016" cy="1774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71F51409-3F91-1D32-9284-6583461CAAE3}"/>
              </a:ext>
            </a:extLst>
          </p:cNvPr>
          <p:cNvCxnSpPr>
            <a:cxnSpLocks/>
            <a:stCxn id="15" idx="2"/>
            <a:endCxn id="35" idx="2"/>
          </p:cNvCxnSpPr>
          <p:nvPr/>
        </p:nvCxnSpPr>
        <p:spPr>
          <a:xfrm rot="10800000" flipV="1">
            <a:off x="2478024" y="1005840"/>
            <a:ext cx="12700" cy="1645920"/>
          </a:xfrm>
          <a:prstGeom prst="curvedConnector3">
            <a:avLst>
              <a:gd name="adj1" fmla="val 180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196</Words>
  <Application>Microsoft Macintosh PowerPoint</Application>
  <PresentationFormat>On-screen Show (16:9)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 ter Horst</cp:lastModifiedBy>
  <cp:revision>10</cp:revision>
  <dcterms:created xsi:type="dcterms:W3CDTF">2026-03-13T10:30:27Z</dcterms:created>
  <dcterms:modified xsi:type="dcterms:W3CDTF">2026-03-13T13:20:38Z</dcterms:modified>
</cp:coreProperties>
</file>